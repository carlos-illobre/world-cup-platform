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Fixar Analytics</a:t>
            </a:r>
          </a:p>
          <a:p>
            <a:pPr algn="ctr">
              <a:spcBef>
                <a:spcPts val="2000"/>
              </a:spcBef>
              <a:defRPr sz="2000">
                <a:solidFill>
                  <a:srgbClr val="CCCCCC"/>
                </a:solidFill>
              </a:defRPr>
            </a:pPr>
            <a:r>
              <a:t>Plataforma de Inteligencia Artificial para el Mundial FIFA 2026</a:t>
            </a:r>
            <a:br/>
            <a:br/>
            <a:r>
              <a:t>Predicción de Lesiones · Resultados de Partidos · Optimización de Plantillas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1. Valor de Negocio — ¿Por qué es útil esta plataforma?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2. Demo — Cómo usar la aplicación e interpretar los datos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3. Ciencia de Datos — Algoritmos elegidos y justificación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4. Pipeline de Datos — Fuentes, limpieza y construcción de maestros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5. Resultados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560320"/>
            <a:ext cx="22860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Parte 1</a:t>
            </a:r>
          </a:p>
          <a:p>
            <a:pPr algn="ctr">
              <a:defRPr sz="1800">
                <a:solidFill>
                  <a:srgbClr val="CCCCCC"/>
                </a:solidFill>
              </a:defRPr>
            </a:pPr>
            <a:r>
              <a:t>Valor de Negocio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Las lesiones cuestan a la industria del fútbol europeo &gt; €500M/año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Un fichaje de €30M puede quedar inactivo 6-18 meses por lesión grave (ACL, fractura)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Los seleccionadores nacionales eligen 26 jugadores de 50+ candidatos con información parcial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Las predicciones de partidos se basan en intuición, no en datos cuantificables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CCCCCC"/>
                </a:solidFill>
              </a:defRPr>
            </a:pPr>
            <a:r>
              <a:t>→ No existe una herramienta integrada que combine predicción de lesiones,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   resultados y optimización de plantillas con datos reales.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La Solución: Fixar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Plataforma web que integra 10 modelos de ML entrenados con datos reales: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Predicción de riesgo de lesión por jugador (próximos 6 meses)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Simulación de resultados de partidos con variables climáticas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Optimización matemática de la plantilla de 26 jugadores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Perfilado táctico de 1,257 jugadores por clustering K-Means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Simulación completa del torneo (104 partidos, de grupos a la final)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Comparador de selecciones con métricas reales de squad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46789" y="2438400"/>
            <a:ext cx="5288691" cy="3369276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📷 Captura: Pantalla principal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7348E9-F618-E939-CBF7-B4234F955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457" y="2776150"/>
            <a:ext cx="5038567" cy="2801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¿Quién lo usa?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Directores Deportivos — Evaluación de riesgo médico pre-fichaje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Seleccionadores Nacionales — Validación matemática de la convocatoria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Cuerpos Técnicos — Gestión de carga y rotación basada en datos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Departamentos de Scouting — Descubrimiento de talento infravalorado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Medios y Plataformas — Predicciones automatizadas para 104 partidos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Aseguradoras — Pricing de seguros ajustado al riesgo real del jugador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560320"/>
            <a:ext cx="22860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Parte 2</a:t>
            </a:r>
          </a:p>
          <a:p>
            <a:pPr algn="ctr">
              <a:defRPr sz="1800">
                <a:solidFill>
                  <a:srgbClr val="CCCCCC"/>
                </a:solidFill>
              </a:defRPr>
            </a:pPr>
            <a:r>
              <a:t>Demo — Cómo usar la aplicación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Diagnóstico de Lesiones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1. Seleccionar fecha → partido → jugador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2. El modelo XGBoost analiza 123 variables del jugador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3. Devuelve: Probabilidad de lesión (0-100%)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4. Clasificación: HEALTHY / LOW_RISK / CRITICAL_RISK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5. Panel fisiológico: sueño, hidratación, temperatura (modelo KNN)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6. Contexto geoclimático: altitud y clima real del estadio (Open-Meteo API)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CCCCCC"/>
                </a:solidFill>
              </a:defRPr>
            </a:pPr>
            <a:r>
              <a:t>→ Simulador What-If: ajustar parámetros y ver cómo cambia el riesgo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99869" y="1894702"/>
            <a:ext cx="4835611" cy="3245709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📷 Captura: Diagnóstico de Lesiones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007F12-37E0-AA00-28D0-35F844DE4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267" y="2255866"/>
            <a:ext cx="4599305" cy="25763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460925-E918-30BF-AC9B-6DA9C6F64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050" y="4671916"/>
            <a:ext cx="4258962" cy="20621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Predicción de Partidos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1. Seleccionar dos equipos (autocompletado en español)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2. Configurar condiciones climáticas del estadio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3. El modelo XGBoost con 14 features genera probabilidades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4. Explicabilidad SHAP: muestra los 4 factores más influyentes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5. Datos reales utilizados: FIFA Points, H2H, forma reciente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CCCCCC"/>
                </a:solidFill>
              </a:defRPr>
            </a:pPr>
            <a:r>
              <a:t>→ Panel '¿Cómo funciona este modelo?' con explicación completa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9038" y="274320"/>
            <a:ext cx="5453448" cy="3449183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📷 Captura: Predicción de Partidos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46A2F8-6926-E67E-72C1-1241A12FC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387" y="610916"/>
            <a:ext cx="5065238" cy="28180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Player Profiling &amp; Scouting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Vista Grid: 1,257 jugadores con búsqueda y filtro por país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Vista Analytics: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Moneyball (Impacto vs Edad) — oportunidades de scouting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Distribución por perfil táctico K-Means (Beeswarm)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xG Overperformance vs Impact Score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Trade-Off Impacto vs Lesiones (visualiza el optimizer)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Radar comparativo jugador vs promedio de su cluster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Ranking Top 10 por perfil táctico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64701" y="527222"/>
            <a:ext cx="5851129" cy="3690551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📷 Captura: Scouting Visual Analytics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62AB4-556F-DB90-B4FE-DBE1C0BCD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213" y="955947"/>
            <a:ext cx="5539618" cy="2981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228EF5-2D53-5B7A-4DCC-7F035319C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937" y="4425421"/>
            <a:ext cx="4473676" cy="23048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Simulador de Grupos + Torneo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Fase de Grupos: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12 grupos × 4 equipos con puntos predichos (XGBoost)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Top 2 + mejores 3ros avanzan (destacados en verde)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Simulación Completa del Torneo: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Resuelve los 32 partidos de knockout recursivamente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Cada ganador predicho alimenta el siguiente cruce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Muestra octavos → cuartos → semis → final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Predice al campeón del Mundial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9038" y="1280159"/>
            <a:ext cx="5502876" cy="3456597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📷 Captura: Simulador de Grupos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1A6516-36AD-2FA1-D801-8988DFF36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974" y="1689114"/>
            <a:ext cx="4988651" cy="26851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Optimizador de Plantillas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1. Seleccionar un país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2. Algoritmo de Programación Lineal (PuLP) calcula la plantilla óptima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3. Función objetivo: Maximizar Impact Score total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4. Penalización: -5 puntos por cada lesión histórica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5. Restricciones: 3 GK, 7-10 DF, 6-10 MF, 5-8 FW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Gráficos: Donut posicional, Ranking Adj. Score, Edad vs Score, Lesiones/línea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12693" y="1828800"/>
            <a:ext cx="5178424" cy="3443416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📷 Captura: Optimizador + Charts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C03F9-6849-679B-6550-E0940C451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924" y="2194862"/>
            <a:ext cx="4997193" cy="26708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5286B-F2A3-C64F-D83A-F983EE4B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184" y="4508143"/>
            <a:ext cx="4127157" cy="21393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560320"/>
            <a:ext cx="22860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Parte 3</a:t>
            </a:r>
          </a:p>
          <a:p>
            <a:pPr algn="ctr">
              <a:defRPr sz="1800">
                <a:solidFill>
                  <a:srgbClr val="CCCCCC"/>
                </a:solidFill>
              </a:defRPr>
            </a:pPr>
            <a:r>
              <a:t>Ciencia de Datos — Algoritmos y Justificación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Resumen de Modelos Implementados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injury_xgboost_model — Clasificación de riesgo de lesión (XGBoost, 123 features)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match_outcome_weather_xgb — Predicción de resultado con clima (XGBoost, 14 features)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team_points_xgb_model — Predicción de puntos de grupo (XGBoost Regressor, 19 features)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formation_xgb_model — Formación táctica óptima (XGBoost Multiclass)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player_impact_xgb_enriched — Impact Score desde atributos FIFA (XGBoost Regressor, 40 features)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physiological_knn — Estimación fisiológica (KNN Regressor, K=15)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K-Means (k=5) — Clustering táctico de jugadores (10 features per-90)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PuLP MILP — Optimización de plantillas (Programación Lineal Entera)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¿Por qué XGBoost?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Ventajas: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Manejo nativo de valores faltantes (NaN) — sin imputación previa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Robusto a multicolinealidad entre features correlacionadas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Captura interacciones no lineales (ej: ranking × forma × clima)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predict_proba() genera probabilidades calibradas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Interpretable via SHAP (SHapley Additive Explanations)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Desventajas: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Propenso a sobreajuste si hiperparámetros no están calibrados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No captura dependencias temporales secuenciales (no es LSTM/RNN)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Rendimiento limitado con datasets &lt; 500 filas (team_points tiene solo 52)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¿Por qué KNN para el perfil fisiológico?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Problema: Estimar métricas biométricas (sueño, hidratación, temperatura)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solo conociendo edad, BMI e índice de fatiga del jugador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Ventajas de KNN (K=15, weights='distance'):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No asume distribución de los datos (non-parametric)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Se adapta naturalmente a regiones densas del espacio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Interpretable: 'los 15 atletas más parecidos a este jugador'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Desventajas: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No extrapola fuera del rango del dataset de entrenamiento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Sensible a la escala — requiere StandardScaler obligatorio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¿Por qué K-Means para perfilado táctico?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Problema: La posición nominal ('MF') es demasiado genérica.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Un mediocampista puede ser destructor, creador o carrilero.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K-Means (k=5) sobre 10 features per-90 minutos: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goals_per_90, assists_per_90, shots_per_90, tackles_won_per_90...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Resultado: 5 perfiles tácticos descubiertos automáticamente: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Defensor Posicional / Carrilero / Destructor / Creador / Goleador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Validación: PCA 2D + t-SNE muestran clusters separados visualmente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Métricas de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Riesgo de Lesión (XGBoost):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AUC-ROC: 0.63 | F1: 0.61 | C-Index (Cox): 0.75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Top SHAP features: Dias_Baja, injury_frequency, injury_count_last_12m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Resultado de Partido (XGBoost):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Accuracy: 50% (3 clases) | Precision Win: 68%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Los empates son inherentemente difíciles de predecir (literatura: Dixon &amp; Coles, 1997)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Puntos de Grupo (XGBoost Regressor):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RMSE: 0.83 puntos | MAE: 0.41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Supera significativamente a Regresión Lineal (RMSE 2.23)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560320"/>
            <a:ext cx="22860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Parte 4</a:t>
            </a:r>
          </a:p>
          <a:p>
            <a:pPr algn="ctr">
              <a:defRPr sz="1800">
                <a:solidFill>
                  <a:srgbClr val="CCCCCC"/>
                </a:solidFill>
              </a:defRPr>
            </a:pPr>
            <a:r>
              <a:t>Pipeline de Datos — Fuentes y Construcción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Fuentes de Datos (todo scrapeado)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FBref.com — Estadísticas de juego (5 tablas × 2 contextos por jugador)</a:t>
            </a:r>
          </a:p>
          <a:p>
            <a:pPr>
              <a:spcBef>
                <a:spcPts val="1000"/>
              </a:spcBef>
              <a:defRPr sz="1800">
                <a:solidFill>
                  <a:srgbClr val="CCCCCC"/>
                </a:solidFill>
              </a:defRPr>
            </a:pPr>
            <a:r>
              <a:t>→ standard, shooting, playing_time, misc, keeper × (WC + all_comps)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Transfermarkt.com — Historial de lesiones (8,611 registros) + Valores de mercado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FIFA Rankings — Rankings mensuales oficiales (merge_asof temporal)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Open-Meteo API — Clima histórico y forecast por coordenadas GPS del estadio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FIFA 22/23 (EA Sports) — 40 atributos técnicos por jugador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World Cup históricos — Resultados de WC anteriores para H2H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137317-884B-8891-5A80-AAE8F3C05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325" y="3871784"/>
            <a:ext cx="3668436" cy="2835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7773B3-CDAC-5E81-83FC-BD7365DC1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5" y="4402340"/>
            <a:ext cx="4151870" cy="2181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738301-5526-9CF1-EA05-9D0137551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50629"/>
            <a:ext cx="4610060" cy="25335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Arquitectura del Data 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data/1_raw/    — Archivos CSV originales (solo lectura — inmutables)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data/2_cleaned/ — Tipos corregidos, fechas normalizadas, NaN tratados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data/3_master/  — 4 tablas de hechos: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    • master_players.csv (1,257 × 152 cols)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    • master_matches.csv (825 × 41 cols)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    • master_teams.csv (52 × 27 cols)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    • master_injuries.csv (8,611 × 164 cols)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data/4_featured/ — Feature matrices listas para ML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Principio: Los modelos solo consumen data/4_featured/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Construcción de Tablas Maestras (Joins)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master_players = roster LEFT JOIN wc_stats LEFT JOIN all_stats LEFT JOIN injuries_agg</a:t>
            </a:r>
          </a:p>
          <a:p>
            <a:pPr>
              <a:spcBef>
                <a:spcPts val="1000"/>
              </a:spcBef>
              <a:defRPr sz="1800">
                <a:solidFill>
                  <a:srgbClr val="CCCCCC"/>
                </a:solidFill>
              </a:defRPr>
            </a:pPr>
            <a:r>
              <a:t>→ Llave: (Player, Country) normalizada con clean_country_name()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master_matches = matchlogs + merge_asof(FIFA_Rankings) + H2H_lookup + stadiums</a:t>
            </a:r>
          </a:p>
          <a:p>
            <a:pPr>
              <a:spcBef>
                <a:spcPts val="1000"/>
              </a:spcBef>
              <a:defRPr sz="1800">
                <a:solidFill>
                  <a:srgbClr val="CCCCCC"/>
                </a:solidFill>
              </a:defRPr>
            </a:pPr>
            <a:r>
              <a:t>→ merge_asof(direction='backward') evita filtrar datos futuros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master_teams = groupby(Country) de master_players + group standings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master_injuries = injuries × master_players + rolling features por jugador</a:t>
            </a:r>
          </a:p>
          <a:p>
            <a:pPr>
              <a:spcBef>
                <a:spcPts val="1000"/>
              </a:spcBef>
              <a:defRPr sz="1800">
                <a:solidFill>
                  <a:srgbClr val="CCCCCC"/>
                </a:solidFill>
              </a:defRPr>
            </a:pPr>
            <a:r>
              <a:t>→ prior_injuries, days_since_last, injury_frequency (iterativo temporal)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Feature Engineering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Jugadores: impact_score_raw = Z(On/Off) + Z(PPM) + Z(G+A/90)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          xg_overperformance = Goles_reales - xG_esperado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Partidos: form_last_5 = rolling(5).sum() de Points con shift(1)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          win_rate_home = cumsum(wins_home).shift(1) / cumsum(played_home).shift(1)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Lesiones: injury_frequency = (n_injuries / days_since_first) × 365.25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          injury_severity_score = map(tipo_lesion → [1-5])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          is_recurrent = tipo_lesion in seen_types_set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Equipos: squad_top_league_ratio = count(league_tier==1) / n_players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560320"/>
            <a:ext cx="22860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Parte 5</a:t>
            </a:r>
          </a:p>
          <a:p>
            <a:pPr algn="ctr">
              <a:defRPr sz="1800">
                <a:solidFill>
                  <a:srgbClr val="CCCCCC"/>
                </a:solidFill>
              </a:defRPr>
            </a:pPr>
            <a:r>
              <a:t>Resultados y Conclusiones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Resultados Logrados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✅ Pipeline end-to-end: de scraping a dashboard interactivo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✅ 10 modelos ML entrenados con datos reales (sin mocks)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✅ 1,257 jugadores perfilados tácticamente (K-Means)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✅ 48 plantillas optimizadas (Programación Lineal)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✅ 104 partidos simulados (predicción recursiva)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✅ Explicabilidad SHAP en cada predicción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✅ Datos geoclimaticos reales via Open-Meteo API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✅ Dashboard React con 7 páginas interactivas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✅ API FastAPI con 24 endpoints documentados (Swagger)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Limitaciones y Trabajo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Limitaciones actuales: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AUC-ROC de 0.63 en lesiones (comparable a literatura, no perfecto)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Accuracy 50% en resultado de partidos (empates difíciles)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Dataset de equipos pequeño (52 filas) — riesgo de sobreajuste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Métricas fisiológicas son estimaciones KNN, no sensores reales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Trabajo futuro: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Agregar datos de tracking (GPS de partidos) cuando estén disponibles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Implementar modelos secuenciales (LSTM) para capturar tendencias temporales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Integrar con APIs de apuestas para calibración de probabilidades</a:t>
            </a:r>
          </a:p>
          <a:p>
            <a:pPr lvl="1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Actualización automática de datos con pipeline de CI/CD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</a:defRPr>
            </a:pPr>
            <a:r>
              <a:t>Stack Tecnológico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Backend: Python 3.12 · FastAPI · XGBoost · scikit-learn · PuLP · pandas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Frontend: React 19 · TanStack Router · Recharts · Tailwind CSS v4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Infraestructura: Docker Compose · Traefik · Vite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ML/DS: XGBoost · KNN · K-Means · PCA · Cox PH · SHAP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Datos: FBref · Transfermarkt · Open-Meteo API · FIFA Rankings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Repositorio organizado por Data Lake layers: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1_raw → 2_cleaned → 3_master → 4_featured → models/pkl → API → Dashboard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¿Preguntas?</a:t>
            </a:r>
          </a:p>
          <a:p>
            <a:pPr algn="ctr">
              <a:spcBef>
                <a:spcPts val="2000"/>
              </a:spcBef>
              <a:defRPr sz="2000">
                <a:solidFill>
                  <a:srgbClr val="CCCCCC"/>
                </a:solidFill>
              </a:defRPr>
            </a:pPr>
            <a:r>
              <a:t>Fixar Analytics — World Cup 2026 AI Platform</a:t>
            </a:r>
            <a:br/>
            <a:br/>
            <a:r>
              <a:t>github.com/world-cup | Documentación: PIPELINE_DOCUMENTATION.md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2084</Words>
  <Application>Microsoft Office PowerPoint</Application>
  <PresentationFormat>Custom</PresentationFormat>
  <Paragraphs>228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Illobre</cp:lastModifiedBy>
  <cp:revision>2</cp:revision>
  <dcterms:created xsi:type="dcterms:W3CDTF">2013-01-27T09:14:16Z</dcterms:created>
  <dcterms:modified xsi:type="dcterms:W3CDTF">2026-06-19T08:52:35Z</dcterms:modified>
  <cp:category/>
</cp:coreProperties>
</file>